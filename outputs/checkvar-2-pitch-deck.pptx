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90a684ea504e95" /><Relationship Type="http://schemas.openxmlformats.org/officeDocument/2006/relationships/extended-properties" Target="/docProps/app.xml" Id="R59a86dafad124ea9" /><Relationship Type="http://schemas.openxmlformats.org/officeDocument/2006/relationships/officeDocument" Target="/ppt/presentation.xml" Id="R8987c1084f924c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9e64486f0e4490"/>
  </p:sldMasterIdLst>
  <p:notesMasterIdLst>
    <p:notesMasterId xmlns:r="http://schemas.openxmlformats.org/officeDocument/2006/relationships" r:id="Raa4bbf06cce04f58"/>
  </p:notesMasterIdLst>
  <p:sldIdLst>
    <p:sldId xmlns:r="http://schemas.openxmlformats.org/officeDocument/2006/relationships" id="256" r:id="Ra59020e5e87045d3"/>
    <p:sldId xmlns:r="http://schemas.openxmlformats.org/officeDocument/2006/relationships" id="257" r:id="Rcb1e9cfff12e4399"/>
    <p:sldId xmlns:r="http://schemas.openxmlformats.org/officeDocument/2006/relationships" id="258" r:id="Raa9daaa5266c4622"/>
    <p:sldId xmlns:r="http://schemas.openxmlformats.org/officeDocument/2006/relationships" id="259" r:id="R214998e3c5ba41ed"/>
    <p:sldId xmlns:r="http://schemas.openxmlformats.org/officeDocument/2006/relationships" id="260" r:id="R52bf8b73273b40c6"/>
    <p:sldId xmlns:r="http://schemas.openxmlformats.org/officeDocument/2006/relationships" id="261" r:id="R827fd3859bd64a67"/>
    <p:sldId xmlns:r="http://schemas.openxmlformats.org/officeDocument/2006/relationships" id="262" r:id="Reca88b0399694f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48f00253204b1a" /><Relationship Type="http://schemas.openxmlformats.org/officeDocument/2006/relationships/slideMaster" Target="/ppt/slideMasters/slideMaster1.xml" Id="R4f9e64486f0e4490" /><Relationship Type="http://schemas.openxmlformats.org/officeDocument/2006/relationships/notesMaster" Target="/ppt/notesMasters/notesMaster1.xml" Id="Raa4bbf06cce04f58" /><Relationship Type="http://schemas.openxmlformats.org/officeDocument/2006/relationships/presProps" Target="/ppt/presProps.xml" Id="Red53db21a0e0462c" /><Relationship Type="http://schemas.openxmlformats.org/officeDocument/2006/relationships/tableStyles" Target="/ppt/tableStyles.xml" Id="R9b8de528d440415b" /><Relationship Type="http://schemas.openxmlformats.org/officeDocument/2006/relationships/slide" Target="/ppt/slides/slide1.xml" Id="Ra59020e5e87045d3" /><Relationship Type="http://schemas.openxmlformats.org/officeDocument/2006/relationships/slide" Target="/ppt/slides/slide2.xml" Id="Rcb1e9cfff12e4399" /><Relationship Type="http://schemas.openxmlformats.org/officeDocument/2006/relationships/slide" Target="/ppt/slides/slide3.xml" Id="Raa9daaa5266c4622" /><Relationship Type="http://schemas.openxmlformats.org/officeDocument/2006/relationships/slide" Target="/ppt/slides/slide4.xml" Id="R214998e3c5ba41ed" /><Relationship Type="http://schemas.openxmlformats.org/officeDocument/2006/relationships/slide" Target="/ppt/slides/slide5.xml" Id="R52bf8b73273b40c6" /><Relationship Type="http://schemas.openxmlformats.org/officeDocument/2006/relationships/slide" Target="/ppt/slides/slide6.xml" Id="R827fd3859bd64a67" /><Relationship Type="http://schemas.openxmlformats.org/officeDocument/2006/relationships/slide" Target="/ppt/slides/slide7.xml" Id="Reca88b0399694f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7883ce413f4c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07fcfdda1345fd" /><Relationship Type="http://schemas.openxmlformats.org/officeDocument/2006/relationships/notesMaster" Target="/ppt/notesMasters/notesMaster1.xml" Id="R9bd278c49d1141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0c2ad753c84922" /><Relationship Type="http://schemas.openxmlformats.org/officeDocument/2006/relationships/notesMaster" Target="/ppt/notesMasters/notesMaster1.xml" Id="Ref5c02230a0b41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e463603cca433f" /><Relationship Type="http://schemas.openxmlformats.org/officeDocument/2006/relationships/notesMaster" Target="/ppt/notesMasters/notesMaster1.xml" Id="R060df6ca495947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375c197df44750" /><Relationship Type="http://schemas.openxmlformats.org/officeDocument/2006/relationships/notesMaster" Target="/ppt/notesMasters/notesMaster1.xml" Id="R065b56cbe61040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8598261c6340dd" /><Relationship Type="http://schemas.openxmlformats.org/officeDocument/2006/relationships/notesMaster" Target="/ppt/notesMasters/notesMaster1.xml" Id="R77c9de520e054b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012453541f4d47" /><Relationship Type="http://schemas.openxmlformats.org/officeDocument/2006/relationships/notesMaster" Target="/ppt/notesMasters/notesMaster1.xml" Id="R3343d18d85b94e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7cf6eeb4bf4d59" /><Relationship Type="http://schemas.openxmlformats.org/officeDocument/2006/relationships/notesMaster" Target="/ppt/notesMasters/notesMaster1.xml" Id="Rc3d8397ccdc84d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Scams now move faster than the warning cycle. CheckVar closes that gap at the moment a customer is about to trust, click, install, or transfer.</a:t>
            </a:r>
          </a:p>
          <a:p xmlns:a="http://schemas.openxmlformats.org/drawingml/2006/main">
            <a:r>
              <a:t>It connects an evidence check to the bank team that can act on the campaign behind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core problem is not lack of data. It is that the evidence is fragmented and arrives after the customer decision.</a:t>
            </a:r>
          </a:p>
          <a:p xmlns:a="http://schemas.openxmlformats.org/drawingml/2006/main">
            <a:r>
              <a:t>Scammers exploit that delay by changing surface indicators while preserving the same scripts, infrastructure, and money trails.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customer experience is deliberately simple: one dominant evidence surface, not a chatbot or dashboard.</a:t>
            </a:r>
          </a:p>
          <a:p xmlns:a="http://schemas.openxmlformats.org/drawingml/2006/main">
            <a:r>
              <a:t>The live prototype supports text, URLs, screenshots, QR files, and account details, then moves through scanning to a verdict and anonymous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result does more than label something suspicious. It shows the exact evidence that connects the input to a known or possible campaign.</a:t>
            </a:r>
          </a:p>
          <a:p xmlns:a="http://schemas.openxmlformats.org/drawingml/2006/main">
            <a:r>
              <a:t>The customer gets concrete action: stop, contact the bank, and optionally contribute an anonymized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intelligence layer is conservative by design. It normalizes durable indicators and joins them through exact campaign evidence.</a:t>
            </a:r>
          </a:p>
          <a:p xmlns:a="http://schemas.openxmlformats.org/drawingml/2006/main">
            <a:r>
              <a:t>If the evidence is weak, the case stays unmatched. That protects trust and gives analysts a reviewable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bank view starts with the operational question: what needs attention now?</a:t>
            </a:r>
          </a:p>
          <a:p xmlns:a="http://schemas.openxmlformats.org/drawingml/2006/main">
            <a:r>
              <a:t>Teams can filter by bank and tactic, rank campaigns, review evidence, hand off to fraud analysts or SOC, and export high-confidence accounts for ban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ask is a focused pilot, not a platform replacement.</a:t>
            </a:r>
          </a:p>
          <a:p xmlns:a="http://schemas.openxmlformats.org/drawingml/2006/main">
            <a:r>
              <a:t>Connect existing campaign and case data, monitor one high-volume scam family for 30 days, and measure whether CheckVar reduces the time from first signal to customer protection.</a:t>
            </a:r>
          </a:p>
          <a:p xmlns:a="http://schemas.openxmlformats.org/drawingml/2006/main">
            <a:r>
              <a:t>Close by offering the live demo: customer check, explainable result, anonymous report, then the bank operations 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bee259d14043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e6a466f7514e38" /><Relationship Type="http://schemas.openxmlformats.org/officeDocument/2006/relationships/slideLayout" Target="/ppt/slideLayouts/slideLayout1.xml" Id="Rb6dacd0b9be846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dacd0b9be846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e0f2e69454171" /><Relationship Type="http://schemas.openxmlformats.org/officeDocument/2006/relationships/notesSlide" Target="/ppt/notesSlides/notesSlide1.xml" Id="Rd9f89ca6673040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161676fe24037" /><Relationship Type="http://schemas.openxmlformats.org/officeDocument/2006/relationships/notesSlide" Target="/ppt/notesSlides/notesSlide2.xml" Id="R6c420f0cea8540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328c5f95b4597" /><Relationship Type="http://schemas.openxmlformats.org/officeDocument/2006/relationships/notesSlide" Target="/ppt/notesSlides/notesSlide3.xml" Id="R6361fd9e57d642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26e2e2e2b4f54" /><Relationship Type="http://schemas.openxmlformats.org/officeDocument/2006/relationships/notesSlide" Target="/ppt/notesSlides/notesSlide4.xml" Id="R5bc9061873f847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9740c87d84092" /><Relationship Type="http://schemas.openxmlformats.org/officeDocument/2006/relationships/notesSlide" Target="/ppt/notesSlides/notesSlide5.xml" Id="R60cc67dfebab44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3ef8013ec435c" /><Relationship Type="http://schemas.openxmlformats.org/officeDocument/2006/relationships/notesSlide" Target="/ppt/notesSlides/notesSlide6.xml" Id="R5aa929d42dbb45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931cd370e40af" /><Relationship Type="http://schemas.openxmlformats.org/officeDocument/2006/relationships/notesSlide" Target="/ppt/notesSlides/notesSlide7.xml" Id="R79209631f6f041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8AD2EC47-F353-4D1B-8579-33C70AB0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CHECKVAR 2.0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C4D00D7-DE4C-4A77-B588-440DE4C1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99999"/>
                </a:solidFill>
              </a:defRPr>
            </a:pPr>
            <a:r>
              <a:rPr sz="1050" b="1">
                <a:solidFill>
                  <a:srgbClr val="999999"/>
                </a:solidFill>
              </a:rPr>
              <a:t>01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580A32-6624-4461-8E3F-3AA3172A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524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PROTECT EVERY</a:t>
            </a:r>
          </a:p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TRANSFER.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A300EBCC-0E86-486B-BD95-1D77DA22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6D1CD"/>
                </a:solidFill>
              </a:defRPr>
            </a:pPr>
            <a:r>
              <a:rPr sz="1875" b="0">
                <a:solidFill>
                  <a:srgbClr val="D6D1CD"/>
                </a:solidFill>
              </a:rPr>
              <a:t>CheckVar 2.0 turns suspicious evidence into a customer decision—and bank action.</a:t>
            </a:r>
          </a:p>
        </p:txBody>
      </p:sp>
      <p:sp>
        <p:nvSpPr>
          <p:cNvPr id="5" name="signal">
            <a:extLst xmlns:a="http://schemas.openxmlformats.org/drawingml/2006/main">
              <a:ext uri="{FF2B5EF4-FFF2-40B4-BE49-F238E27FC236}">
                <a16:creationId xmlns:a16="http://schemas.microsoft.com/office/drawing/2014/main" id="{2F5B2B75-9AAB-4A30-854E-40D45322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676D"/>
          </a:solidFill>
          <a:ln xmlns:a="http://schemas.openxmlformats.org/drawingml/2006/main" w="0">
            <a:solidFill>
              <a:srgbClr val="DB676D"/>
            </a:solidFill>
            <a:prstDash val="solid"/>
          </a:ln>
        </p:spPr>
      </p:sp>
      <p:sp>
        <p:nvSpPr>
          <p:cNvPr id="6" name="loop">
            <a:extLst xmlns:a="http://schemas.openxmlformats.org/drawingml/2006/main">
              <a:ext uri="{FF2B5EF4-FFF2-40B4-BE49-F238E27FC236}">
                <a16:creationId xmlns:a16="http://schemas.microsoft.com/office/drawing/2014/main" id="{D3EDEE1C-2E0B-4FA4-BEB0-3BCBD99B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B676D"/>
                </a:solidFill>
              </a:defRPr>
            </a:pPr>
            <a:r>
              <a:rPr sz="1275" b="1">
                <a:solidFill>
                  <a:srgbClr val="DB676D"/>
                </a:solidFill>
              </a:rPr>
              <a:t>CUSTOMER CHECK  →  CAMPAIGN INTELLIGENCE  →  FRAUD OPERATIONS</a:t>
            </a:r>
          </a:p>
        </p:txBody>
      </p:sp>
    </p:spTree>
    <p:extLst>
      <p:ext uri="{BB962C8B-B14F-4D97-AF65-F5344CB8AC3E}">
        <p14:creationId xmlns:p14="http://schemas.microsoft.com/office/powerpoint/2010/main" val="14943240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FA7D78A2-6FEC-44C8-96A5-5361A5C8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CHECKVAR 2.0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8F596E23-1C9B-4DE0-8CCE-C42AB957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E6A67"/>
                </a:solidFill>
              </a:defRPr>
            </a:pPr>
            <a:r>
              <a:rPr sz="1050" b="1">
                <a:solidFill>
                  <a:srgbClr val="6E6A67"/>
                </a:solidFill>
              </a:rPr>
              <a:t>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B6397E-83DB-4F61-A04A-209A9B68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A single scam rarely looks the same twice.</a:t>
            </a:r>
          </a:p>
        </p:txBody>
      </p:sp>
      <p:sp>
        <p:nvSpPr>
          <p:cNvPr id="4" name="sub">
            <a:extLst xmlns:a="http://schemas.openxmlformats.org/drawingml/2006/main">
              <a:ext uri="{FF2B5EF4-FFF2-40B4-BE49-F238E27FC236}">
                <a16:creationId xmlns:a16="http://schemas.microsoft.com/office/drawing/2014/main" id="{283194EB-8817-4507-BFEE-0B20C1E3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A67"/>
                </a:solidFill>
              </a:defRPr>
            </a:pPr>
            <a:r>
              <a:rPr sz="1650" b="0">
                <a:solidFill>
                  <a:srgbClr val="6E6A67"/>
                </a:solidFill>
              </a:rPr>
              <a:t>Numbers rotate. Domains change. QR codes relay money. The operating pattern survives.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A7057BD-B69D-4B4E-93DD-9B9CB9AE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B676D"/>
                </a:solidFill>
              </a:defRPr>
            </a:pPr>
            <a:r>
              <a:rPr sz="1425" b="1">
                <a:solidFill>
                  <a:srgbClr val="DB676D"/>
                </a:solidFill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7AD3BB4-A2DC-427F-81CA-016D2695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384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FRAGMENTED EVIDENCE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C97DC28-8EFB-46E9-80E2-2E5CEB4C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384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A67"/>
                </a:solidFill>
              </a:defRPr>
            </a:pPr>
            <a:r>
              <a:rPr sz="1350" b="0">
                <a:solidFill>
                  <a:srgbClr val="6E6A67"/>
                </a:solidFill>
              </a:rPr>
              <a:t>A screenshot sits with the customer. A payee sits with the bank. A warning sits on social media.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4003D9F1-D6C1-4E31-A867-54629A31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0CB"/>
          </a:solidFill>
          <a:ln xmlns:a="http://schemas.openxmlformats.org/drawingml/2006/main" w="0">
            <a:solidFill>
              <a:srgbClr val="D5D0CB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A54A343-FCA2-41F8-AA13-16F3E046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B676D"/>
                </a:solidFill>
              </a:defRPr>
            </a:pPr>
            <a:r>
              <a:rPr sz="1425" b="1">
                <a:solidFill>
                  <a:srgbClr val="DB676D"/>
                </a:solidFill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956926F-3CE6-4B29-81B3-3DC6849A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SLOW CONFIRMATION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8CE72F3-AA8F-4B9D-B055-F216B0C8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623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A67"/>
                </a:solidFill>
              </a:defRPr>
            </a:pPr>
            <a:r>
              <a:rPr sz="1350" b="0">
                <a:solidFill>
                  <a:srgbClr val="6E6A67"/>
                </a:solidFill>
              </a:rPr>
              <a:t>Customers need an answer before the transfer—not after a case review.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BA4C99BD-A16F-4431-B4A7-1A52B77A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0CB"/>
          </a:solidFill>
          <a:ln xmlns:a="http://schemas.openxmlformats.org/drawingml/2006/main" w="0">
            <a:solidFill>
              <a:srgbClr val="D5D0CB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256C194-FE9A-4DCB-9559-95190716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B676D"/>
                </a:solidFill>
              </a:defRPr>
            </a:pPr>
            <a:r>
              <a:rPr sz="1425" b="1">
                <a:solidFill>
                  <a:srgbClr val="DB676D"/>
                </a:solidFill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BAFF10A-CE7F-4609-852A-A9E38CA5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ISOLATED RESPONSE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DD98E43-0AA4-4D16-B775-D26F4526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863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A67"/>
                </a:solidFill>
              </a:defRPr>
            </a:pPr>
            <a:r>
              <a:rPr sz="1350" b="0">
                <a:solidFill>
                  <a:srgbClr val="6E6A67"/>
                </a:solidFill>
              </a:rPr>
              <a:t>Banks block indicators one at a time while the campaign rotates around them.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B5D2B27B-4452-4A35-A324-DC776949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0CB"/>
          </a:solidFill>
          <a:ln xmlns:a="http://schemas.openxmlformats.org/drawingml/2006/main" w="0">
            <a:solidFill>
              <a:srgbClr val="D5D0C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277022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683E4842-041E-427A-BB83-280E8BB3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CHECKVAR 2.0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6D4E10D4-C5CA-497C-B7D0-18FE269F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E6A67"/>
                </a:solidFill>
              </a:defRPr>
            </a:pPr>
            <a:r>
              <a:rPr sz="1050" b="1">
                <a:solidFill>
                  <a:srgbClr val="6E6A67"/>
                </a:solidFill>
              </a:rPr>
              <a:t>03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ADCE5E7-8714-4930-8C23-DC5761BD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One evidence surface. One clear next step.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FB93E1A-4F65-4DAA-9C3C-1A8D16C6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A67"/>
                </a:solidFill>
              </a:defRPr>
            </a:pPr>
            <a:r>
              <a:rPr sz="1575" b="0">
                <a:solidFill>
                  <a:srgbClr val="6E6A67"/>
                </a:solidFill>
              </a:rPr>
              <a:t>Paste text, drop a screenshot, scan a QR, or enter a recipient.</a:t>
            </a:r>
          </a:p>
        </p:txBody>
      </p:sp>
      <p:sp>
        <p:nvSpPr>
          <p:cNvPr id="5" name="dropzone">
            <a:extLst xmlns:a="http://schemas.openxmlformats.org/drawingml/2006/main">
              <a:ext uri="{FF2B5EF4-FFF2-40B4-BE49-F238E27FC236}">
                <a16:creationId xmlns:a16="http://schemas.microsoft.com/office/drawing/2014/main" id="{4833E8E7-90F6-4DD8-AEC3-78CE7ADB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7F4F1"/>
          </a:solidFill>
          <a:ln xmlns:a="http://schemas.openxmlformats.org/drawingml/2006/main" w="9525">
            <a:solidFill>
              <a:srgbClr val="E2DDD8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26ADC04-EE0F-4AE7-9DB3-D26D1E24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B676D"/>
                </a:solidFill>
              </a:defRPr>
            </a:pPr>
            <a:r>
              <a:rPr sz="1350" b="1">
                <a:solidFill>
                  <a:srgbClr val="DB676D"/>
                </a:solidFill>
              </a:rPr>
              <a:t>DROP  ·  PASTE  ·  TYPE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13D301C-354E-4E90-86FE-CE1F9994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telegram_support_4821.png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04711E6-5B79-40D0-BA09-E1E3540D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A67"/>
                </a:solidFill>
              </a:defRPr>
            </a:pPr>
            <a:r>
              <a:rPr sz="1275" b="0">
                <a:solidFill>
                  <a:srgbClr val="6E6A67"/>
                </a:solidFill>
              </a:rPr>
              <a:t>Screenshot + message text detected</a:t>
            </a:r>
          </a:p>
        </p:txBody>
      </p:sp>
      <p:sp>
        <p:nvSpPr>
          <p:cNvPr id="9" name="check">
            <a:extLst xmlns:a="http://schemas.openxmlformats.org/drawingml/2006/main">
              <a:ext uri="{FF2B5EF4-FFF2-40B4-BE49-F238E27FC236}">
                <a16:creationId xmlns:a16="http://schemas.microsoft.com/office/drawing/2014/main" id="{1150B285-E5DB-49C0-94A8-DE9B10F0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676D"/>
          </a:solidFill>
          <a:ln xmlns:a="http://schemas.openxmlformats.org/drawingml/2006/main" w="0">
            <a:solidFill>
              <a:srgbClr val="DB676D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80B621F-FDCA-4F94-80D9-CA2C5C44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147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CHECK EVIDENCE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0E022CB-D958-4995-B822-21B9EA85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6A67"/>
                </a:solidFill>
              </a:defRPr>
            </a:pPr>
            <a:r>
              <a:rPr sz="1050" b="1">
                <a:solidFill>
                  <a:srgbClr val="6E6A67"/>
                </a:solidFill>
              </a:rPr>
              <a:t>IMAGE  •  URL  •  TEXT  •  QR  •  ACCOUNT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7B5FE1A-ECBA-45F9-9E45-E04CE3F3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Designed for the moment before trust becomes a transaction.</a:t>
            </a:r>
          </a:p>
        </p:txBody>
      </p:sp>
    </p:spTree>
    <p:extLst>
      <p:ext uri="{BB962C8B-B14F-4D97-AF65-F5344CB8AC3E}">
        <p14:creationId xmlns:p14="http://schemas.microsoft.com/office/powerpoint/2010/main" val="20920192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143EF26F-2559-47A8-BC1B-B1081995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CHECKVAR 2.0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A2CB0598-28FB-4451-A0E4-28FEBF8F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99999"/>
                </a:solidFill>
              </a:defRPr>
            </a:pPr>
            <a:r>
              <a:rPr sz="1050" b="1">
                <a:solidFill>
                  <a:srgbClr val="999999"/>
                </a:solidFill>
              </a:rPr>
              <a:t>04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F14CE6D-0AA0-4176-9E86-AF767223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 verdict that explains itself.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0BB9B4F-AA3A-4B56-A039-CDFDEC0C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B676D"/>
                </a:solidFill>
              </a:defRPr>
            </a:pPr>
            <a:r>
              <a:rPr sz="1275" b="1">
                <a:solidFill>
                  <a:srgbClr val="DB676D"/>
                </a:solidFill>
              </a:rPr>
              <a:t>KNOWN CAMPAIGN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43038FA-AC5B-45B1-B9E3-5F0D9CE6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VNeID SUPPORT LOOP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C70C671-6514-43AB-9817-F25F716D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383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DB676D"/>
                </a:solidFill>
              </a:defRPr>
            </a:pPr>
            <a:r>
              <a:rPr sz="1800" b="1">
                <a:solidFill>
                  <a:srgbClr val="DB676D"/>
                </a:solidFill>
              </a:rPr>
              <a:t>96% match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FF5E5622-D182-481D-88A0-0EEC7533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203BD3A-EBF6-4577-AE70-A3233A19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4A0"/>
                </a:solidFill>
              </a:defRPr>
            </a:pPr>
            <a:r>
              <a:rPr sz="1050" b="1">
                <a:solidFill>
                  <a:srgbClr val="A9A4A0"/>
                </a:solidFill>
              </a:rPr>
              <a:t>OCR PHRASE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F73047E-D776-4200-9139-54F36AA1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575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“verify before 11 PM”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81A6C7E-221B-450A-96D2-F56184D3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86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B676D"/>
                </a:solidFill>
              </a:defRPr>
            </a:pPr>
            <a:r>
              <a:rPr sz="1200" b="1">
                <a:solidFill>
                  <a:srgbClr val="DB676D"/>
                </a:solidFill>
              </a:rPr>
              <a:t>41 prior reports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AD8E2A4E-9978-4808-9592-88B915F2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4756F3A-47FA-4152-9840-4E24CC6A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4A0"/>
                </a:solidFill>
              </a:defRPr>
            </a:pPr>
            <a:r>
              <a:rPr sz="1050" b="1">
                <a:solidFill>
                  <a:srgbClr val="A9A4A0"/>
                </a:solidFill>
              </a:rPr>
              <a:t>DESTINATION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4F37AB1-22E1-4AF1-86E7-59192A56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576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vneid-ho-tro[.]live → APK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835661C-0C22-4D50-A493-E12DE2B4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862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B676D"/>
                </a:solidFill>
              </a:defRPr>
            </a:pPr>
            <a:r>
              <a:rPr sz="1200" b="1">
                <a:solidFill>
                  <a:srgbClr val="DB676D"/>
                </a:solidFill>
              </a:rPr>
              <a:t>domain rotated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E108E265-8441-4C40-A473-21C6FA48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3890684-DD2F-4E0D-8078-F565AC1E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4A0"/>
                </a:solidFill>
              </a:defRPr>
            </a:pPr>
            <a:r>
              <a:rPr sz="1050" b="1">
                <a:solidFill>
                  <a:srgbClr val="A9A4A0"/>
                </a:solidFill>
              </a:rPr>
              <a:t>PAYEE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3E869B2-3C2B-448C-A9F3-03A7C3C8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577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MB •••• 8086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B98BB05-69B3-4654-8AE2-09B26EFE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86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B676D"/>
                </a:solidFill>
              </a:defRPr>
            </a:pPr>
            <a:r>
              <a:rPr sz="1200" b="1">
                <a:solidFill>
                  <a:srgbClr val="DB676D"/>
                </a:solidFill>
              </a:rPr>
              <a:t>6 confirmed cases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D7DD716-E9F5-4961-A9EB-91D65101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STOP THE TRANSFER  ·  CALL THE BANK  ·  REPORT ANONYMOUSLY</a:t>
            </a:r>
          </a:p>
        </p:txBody>
      </p:sp>
    </p:spTree>
    <p:extLst>
      <p:ext uri="{BB962C8B-B14F-4D97-AF65-F5344CB8AC3E}">
        <p14:creationId xmlns:p14="http://schemas.microsoft.com/office/powerpoint/2010/main" val="795987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F1BB6702-35BE-473C-87E0-BC26D2F3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CHECKVAR 2.0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CD574695-7548-4DE4-A76C-FD5F1BB1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E6A67"/>
                </a:solidFill>
              </a:defRPr>
            </a:pPr>
            <a:r>
              <a:rPr sz="1050" b="1">
                <a:solidFill>
                  <a:srgbClr val="6E6A67"/>
                </a:solidFill>
              </a:rPr>
              <a:t>05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604F6C2-2E38-4695-A261-9A8359BB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Every check can strengthen the bank’s view.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9CBBF72-DE24-4656-93BB-1E58C064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A67"/>
                </a:solidFill>
              </a:defRPr>
            </a:pPr>
            <a:r>
              <a:rPr sz="1575" b="0">
                <a:solidFill>
                  <a:srgbClr val="6E6A67"/>
                </a:solidFill>
              </a:rPr>
              <a:t>Privacy-redacted evidence becomes campaign intelligence—without forcing weak matches.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782085B6-0810-4260-BAE7-6CB248AC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381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3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162AB1E-7C41-4A4B-AE79-A9A37686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B676D"/>
                </a:solidFill>
              </a:defRPr>
            </a:pPr>
            <a:r>
              <a:rPr sz="1425" b="1">
                <a:solidFill>
                  <a:srgbClr val="DB676D"/>
                </a:solidFill>
              </a:rPr>
              <a:t>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5C2C6C7-8277-41FF-8CFE-4D03CCCA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INGEST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689A31E-224E-4077-8C33-2B2B4363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A67"/>
                </a:solidFill>
              </a:defRPr>
            </a:pPr>
            <a:r>
              <a:rPr sz="1275" b="0">
                <a:solidFill>
                  <a:srgbClr val="6E6A67"/>
                </a:solidFill>
              </a:rPr>
              <a:t>Public reports + customer evidence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942669A9-6F82-4F44-9B9C-73C8CEA1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2381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3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9F0EAFF-E1F4-4B44-A110-0977A2B0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B676D"/>
                </a:solidFill>
              </a:defRPr>
            </a:pPr>
            <a:r>
              <a:rPr sz="1425" b="1">
                <a:solidFill>
                  <a:srgbClr val="DB676D"/>
                </a:solidFill>
              </a:rPr>
              <a:t>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A5E4CBB-9606-4AE1-BB53-3C0EEA5C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48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EXTRACT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8E17017-1889-4A02-B2A4-0249C9A7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052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A67"/>
                </a:solidFill>
              </a:defRPr>
            </a:pPr>
            <a:r>
              <a:rPr sz="1275" b="0">
                <a:solidFill>
                  <a:srgbClr val="6E6A67"/>
                </a:solidFill>
              </a:rPr>
              <a:t>Phones, accounts, domains, QR payloads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9EA3F29D-8108-4AD6-9AAD-D635A8F1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81250"/>
            <a:ext cx="2381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D3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FED794E-8A5A-4ECE-9FA2-6328157B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B676D"/>
                </a:solidFill>
              </a:defRPr>
            </a:pPr>
            <a:r>
              <a:rPr sz="1425" b="1">
                <a:solidFill>
                  <a:srgbClr val="DB676D"/>
                </a:solidFill>
              </a:rPr>
              <a:t>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C06617B-3045-4E17-8D21-5EB79A52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48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LINK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1B8A616-2801-40D1-A84B-09C59898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A67"/>
                </a:solidFill>
              </a:defRPr>
            </a:pPr>
            <a:r>
              <a:rPr sz="1275" b="0">
                <a:solidFill>
                  <a:srgbClr val="6E6A67"/>
                </a:solidFill>
              </a:rPr>
              <a:t>Exact normalized indicators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5C5F099F-0781-4004-BD54-213BC14C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23812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91E1175-6DF1-4633-B46E-A2A93A30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B676D"/>
                </a:solidFill>
              </a:defRPr>
            </a:pPr>
            <a:r>
              <a:rPr sz="1425" b="1">
                <a:solidFill>
                  <a:srgbClr val="DB676D"/>
                </a:solidFill>
              </a:rPr>
              <a:t>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4A758AA-58A6-441B-97EC-1FB14253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813C4E3-D621-4B48-BB1A-57BEE112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052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C4C0"/>
                </a:solidFill>
              </a:defRPr>
            </a:pPr>
            <a:r>
              <a:rPr sz="1275" b="0">
                <a:solidFill>
                  <a:srgbClr val="C9C4C0"/>
                </a:solidFill>
              </a:rPr>
              <a:t>Prioritized campaign actions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A935581-E976-4637-832C-37C9DF74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B676D"/>
                </a:solidFill>
              </a:defRPr>
            </a:pPr>
            <a:r>
              <a:rPr sz="1500" b="1">
                <a:solidFill>
                  <a:srgbClr val="DB676D"/>
                </a:solidFill>
              </a:rPr>
              <a:t>Conservative by design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51D9493-DA5C-4276-AD02-BE04B7A4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No embeddings. No forced campaign assignment. Only durable, reviewable evidence links.</a:t>
            </a:r>
          </a:p>
        </p:txBody>
      </p:sp>
    </p:spTree>
    <p:extLst>
      <p:ext uri="{BB962C8B-B14F-4D97-AF65-F5344CB8AC3E}">
        <p14:creationId xmlns:p14="http://schemas.microsoft.com/office/powerpoint/2010/main" val="17442360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7E1C8043-6EF3-46A3-8D9E-AA20C5BE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CHECKVAR 2.0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999274A-CEE7-48A2-A28D-7875E577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E6A67"/>
                </a:solidFill>
              </a:defRPr>
            </a:pPr>
            <a:r>
              <a:rPr sz="1050" b="1">
                <a:solidFill>
                  <a:srgbClr val="6E6A67"/>
                </a:solidFill>
              </a:rPr>
              <a:t>06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3C8B54F-49EB-4706-B151-529C645F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Bank teams see what matters—and what to do next.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485D8B85-45ED-47BD-B5E6-E2E43BB8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F386EE1-77DB-44E4-8D51-0CD457F8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B676D"/>
                </a:solidFill>
              </a:defRPr>
            </a:pPr>
            <a:r>
              <a:rPr sz="1350" b="1">
                <a:solidFill>
                  <a:srgbClr val="DB676D"/>
                </a:solidFill>
              </a:rPr>
              <a:t>WHAT TO DO NEXT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E7EE06D-9426-464C-B54B-E1BAB119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Review 2 VCB beneficiary accounts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5C01C92-B191-4DD5-93A9-691E73DF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66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B676D"/>
                </a:solidFill>
              </a:defRPr>
            </a:pPr>
            <a:r>
              <a:rPr sz="1125" b="1">
                <a:solidFill>
                  <a:srgbClr val="DB676D"/>
                </a:solidFill>
              </a:rPr>
              <a:t>DUE IN 2H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957B77D-9AD8-4051-9267-CF91BB54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A67"/>
                </a:solidFill>
              </a:defRPr>
            </a:pPr>
            <a:r>
              <a:rPr sz="1200" b="1">
                <a:solidFill>
                  <a:srgbClr val="6E6A67"/>
                </a:solidFill>
              </a:rPr>
              <a:t>PRIORITIZED CAMPAIGNS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0558A66-DB36-4B64-BBFC-81496DAB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VNeID SUPPORT LOOP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910D4A5-48B4-4596-861D-D17366FA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14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A67"/>
                </a:solidFill>
              </a:defRPr>
            </a:pPr>
            <a:r>
              <a:rPr sz="1350" b="0">
                <a:solidFill>
                  <a:srgbClr val="6E6A67"/>
                </a:solidFill>
              </a:rPr>
              <a:t>52 reports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87358A0-851D-4F33-B372-EFFD161B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₫214M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DCE0D6D-D2D5-491B-BA66-0C6A0513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14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B676D"/>
                </a:solidFill>
              </a:defRPr>
            </a:pPr>
            <a:r>
              <a:rPr sz="1125" b="1">
                <a:solidFill>
                  <a:srgbClr val="DB676D"/>
                </a:solidFill>
              </a:rPr>
              <a:t>RAPIDLY SPREADING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51F1256F-B9F7-4118-A31A-2B1FBCD8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D3"/>
          </a:solidFill>
          <a:ln xmlns:a="http://schemas.openxmlformats.org/drawingml/2006/main" w="0">
            <a:solidFill>
              <a:srgbClr val="DDD8D3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BABF216-A625-4893-89A1-A01CEB19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REFUND QR RELAY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2B52815-FD3D-4FA6-AB4C-44AE5603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A67"/>
                </a:solidFill>
              </a:defRPr>
            </a:pPr>
            <a:r>
              <a:rPr sz="1350" b="0">
                <a:solidFill>
                  <a:srgbClr val="6E6A67"/>
                </a:solidFill>
              </a:rPr>
              <a:t>29 reports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54386CE-9F0A-4327-8B61-64EA92C5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₫74M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37E34B4-B7B7-4C1F-8C22-750D5509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E6A67"/>
                </a:solidFill>
              </a:defRPr>
            </a:pPr>
            <a:r>
              <a:rPr sz="1125" b="1">
                <a:solidFill>
                  <a:srgbClr val="6E6A67"/>
                </a:solidFill>
              </a:rPr>
              <a:t>NEW ACTIVITY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B68AB727-EB5E-484C-8294-70FFA2FF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D3"/>
          </a:solidFill>
          <a:ln xmlns:a="http://schemas.openxmlformats.org/drawingml/2006/main" w="0">
            <a:solidFill>
              <a:srgbClr val="DDD8D3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6A0BB1C-9AFF-48F8-BD63-0171466D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BIOMETRIC RESET TRAP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375978F-0354-49AB-8446-B81C7277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A67"/>
                </a:solidFill>
              </a:defRPr>
            </a:pPr>
            <a:r>
              <a:rPr sz="1350" b="0">
                <a:solidFill>
                  <a:srgbClr val="6E6A67"/>
                </a:solidFill>
              </a:rPr>
              <a:t>24 reports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9369EE2-432E-4C13-8008-BE23D021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₫126M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30D4AE5-1F1F-488C-B0E9-9DFA944E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86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B676D"/>
                </a:solidFill>
              </a:defRPr>
            </a:pPr>
            <a:r>
              <a:rPr sz="1125" b="1">
                <a:solidFill>
                  <a:srgbClr val="DB676D"/>
                </a:solidFill>
              </a:rPr>
              <a:t>RAPIDLY SPREADING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375257CA-9CBC-4AAB-805B-75C219E1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D3"/>
          </a:solidFill>
          <a:ln xmlns:a="http://schemas.openxmlformats.org/drawingml/2006/main" w="0">
            <a:solidFill>
              <a:srgbClr val="DDD8D3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989D664-8016-40BB-9B60-A4A0F136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A67"/>
                </a:solidFill>
              </a:defRPr>
            </a:pPr>
            <a:r>
              <a:rPr sz="1425" b="0">
                <a:solidFill>
                  <a:srgbClr val="6E6A67"/>
                </a:solidFill>
              </a:rPr>
              <a:t>Overview first. Relationship graph only when an analyst opens a campaign.</a:t>
            </a:r>
          </a:p>
        </p:txBody>
      </p:sp>
    </p:spTree>
    <p:extLst>
      <p:ext uri="{BB962C8B-B14F-4D97-AF65-F5344CB8AC3E}">
        <p14:creationId xmlns:p14="http://schemas.microsoft.com/office/powerpoint/2010/main" val="21037450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">
            <a:extLst xmlns:a="http://schemas.openxmlformats.org/drawingml/2006/main">
              <a:ext uri="{FF2B5EF4-FFF2-40B4-BE49-F238E27FC236}">
                <a16:creationId xmlns:a16="http://schemas.microsoft.com/office/drawing/2014/main" id="{4BBDB36D-62A4-4D84-B234-82125F43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CHECKVAR 2.0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73439B2-F351-4F4B-9CEF-C0A934C8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99999"/>
                </a:solidFill>
              </a:defRPr>
            </a:pPr>
            <a:r>
              <a:rPr sz="1050" b="1">
                <a:solidFill>
                  <a:srgbClr val="999999"/>
                </a:solidFill>
              </a:rPr>
              <a:t>07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35A99DA-EA8C-4F71-9ABF-C666815F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The product is built.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Now prove the loop.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669D6CF-74AE-48FA-82CB-6D9A5446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C6C2"/>
                </a:solidFill>
              </a:defRPr>
            </a:pPr>
            <a:r>
              <a:rPr sz="1650" b="0">
                <a:solidFill>
                  <a:srgbClr val="CBC6C2"/>
                </a:solidFill>
              </a:rPr>
              <a:t>Pilot with one bank, one scam family, and one measurable outcome: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FB77A80A-F43F-489D-842D-5D7D1236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820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69CEC9C-F39C-4CCC-8335-98FADE41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8075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B676D"/>
                </a:solidFill>
              </a:defRPr>
            </a:pPr>
            <a:r>
              <a:rPr sz="1875" b="1">
                <a:solidFill>
                  <a:srgbClr val="DB676D"/>
                </a:solidFill>
              </a:rPr>
              <a:t>REDUCE TIME FROM FIRST SIGNAL TO CUSTOMER PROTECTION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B4E17C3-44DA-4620-85E4-B505C190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B676D"/>
                </a:solidFill>
              </a:defRPr>
            </a:pPr>
            <a:r>
              <a:rPr sz="1200" b="1">
                <a:solidFill>
                  <a:srgbClr val="DB676D"/>
                </a:solidFill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A2D71C8-2BC7-474E-9A2A-D44825B0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9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CONNECT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E9D83DF-B6B5-48A0-8429-E86EA9AB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62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A5A1"/>
                </a:solidFill>
              </a:defRPr>
            </a:pPr>
            <a:r>
              <a:rPr sz="1275" b="0">
                <a:solidFill>
                  <a:srgbClr val="AAA5A1"/>
                </a:solidFill>
              </a:rPr>
              <a:t>Campaign + case data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F901CBA-FA56-40D6-83AE-476861E8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838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B676D"/>
                </a:solidFill>
              </a:defRPr>
            </a:pPr>
            <a:r>
              <a:rPr sz="1200" b="1">
                <a:solidFill>
                  <a:srgbClr val="DB676D"/>
                </a:solidFill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650AD6B-67CF-45E7-8BC5-A048DDA0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819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AD70402-6E68-40DA-8D54-35B5EA77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62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A5A1"/>
                </a:solidFill>
              </a:defRPr>
            </a:pPr>
            <a:r>
              <a:rPr sz="1275" b="0">
                <a:solidFill>
                  <a:srgbClr val="AAA5A1"/>
                </a:solidFill>
              </a:rPr>
              <a:t>30-day monitored pilot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536ADFC-23DF-437E-A93D-B577A20F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38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B676D"/>
                </a:solidFill>
              </a:defRPr>
            </a:pPr>
            <a:r>
              <a:rPr sz="1200" b="1">
                <a:solidFill>
                  <a:srgbClr val="DB676D"/>
                </a:solidFill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DF87056-291A-45CA-B30E-B8DE46F2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MEASURE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0A08D7F-3701-4052-9B0C-84CC1786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62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A5A1"/>
                </a:solidFill>
              </a:defRPr>
            </a:pPr>
            <a:r>
              <a:rPr sz="1275" b="0">
                <a:solidFill>
                  <a:srgbClr val="AAA5A1"/>
                </a:solidFill>
              </a:rPr>
              <a:t>Detection-to-action time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A786FD4-F6FE-46B0-9898-7A5C1456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CHECKVAR 2.0  ·  PROTECT EVERY TRANSFER.</a:t>
            </a:r>
          </a:p>
        </p:txBody>
      </p:sp>
    </p:spTree>
    <p:extLst>
      <p:ext uri="{BB962C8B-B14F-4D97-AF65-F5344CB8AC3E}">
        <p14:creationId xmlns:p14="http://schemas.microsoft.com/office/powerpoint/2010/main" val="2100094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2026-07-11T17:40:47.2610000Z</dcterms:created>
  <dcterms:modified xsi:type="dcterms:W3CDTF">2026-07-11T17:40:47.2610000Z</dcterms:modified>
</coreProperties>
</file>